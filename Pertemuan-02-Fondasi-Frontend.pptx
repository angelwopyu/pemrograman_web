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42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 adalah cara utama pengguna mengirim data. Tekankan tiga hal: input type yang tepat, hubungan label-input untuk aksesibilitas, dan atribut validasi bawaan HTML. Hubungkan ke materi CRUD nanti.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Aksesibilitas dan SEO berjalan seiring: markup yang bermakna menguntungkan keduanya. Ini makin menjadi syarat wajib di industri, bukan fitur opsional.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struktur dasar aturan CSS dan istilah selector/property/value. Tekankan pemakaian file eksternal sebagai praktik terbaik dibanding inline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model adalah konsep paling fundamental dalam tata letak CSS. Gunakan diagram berlapis ini untuk menjelaskan content, padding, border, margin. Sebutkan border-box yang dipakai luas.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Flexbox untuk tata letak satu dimensi. Peragakan bagaimana justify-content menata di sumbu utama dan align-items di sumbu silang. Contoh nyata: menu navigasi, baris kartu.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untuk tata letak dua dimensi. repeat(3, 1fr) membuat tiga kolom sama lebar. Beri panduan praktis kapan memilih Flexbox vs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Mobile-first berarti mendesain untuk layar kecil dulu, lalu menambah gaya untuk layar lebih besar dengan media query. Tailwind menerapkan ini lewat prefix sm/md/lg.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Masalah-masalah ini muncul saat proyek membesar. Bukan berarti CSS buruk, tetapi menjelaskan motivasi lahirnya pendekatan utility-first seperti Tailwind.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utility-first: alih-alih menulis CSS terpisah, kita menyusun tampilan dari kelas kecil yang sudah bermakna. Tekankan konsistensi lewat design token dan kecepatan iterasi.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Tailwind bukan sihir: menghasilkan tampilan yang sama, namun gaya ditulis langsung di elemen sehingga tidak perlu berpindah file dan penamaan kelas.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Gabungkan konsep hari ini: sebuah komponen kartu profil dibangun sepenuhnya dengan utilitas Tailwind. Kaitkan setiap kelompok kelas dengan perannya (layout, spacing, tipografi, warna).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 gambaran besar: apa yang dipelajari hari ini adalah fondasi. Tailwind, React, React Aria, dan Intent UI akan dibangun di atasnya. Ini menjaga motivasi mahasiswa.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Rangkum sikap kerja yang benar dan hubungkan dengan dunia kerja. Poin aksesibilitas &amp; performa relevan dengan ekspektasi industri saat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mengintegrasikan seluruh materi. Membuat kartu dua kali (CSS murni lalu Tailwind) membantu mahasiswa merasakan perbedaan pendekatan secara langsung.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tenggat dan cara pengumpulan (Git). Beri gambaran singkat materi berikutnya agar mahasiswa datang siap.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tiga pilar: HTML, CSS, Tailwind. Ingatkan bahwa ini adalah pondasi untuk seluruh sisa perkuliahan.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9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· PEMROGRAMAN WEB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54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Frontend Web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Semantik · CSS3 Modern · Pengenalan Tailwind CSS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611880"/>
            <a:ext cx="205740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s/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31336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72184" y="3758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72184" y="4069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0" y="3611880"/>
            <a:ext cx="205740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icons/c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83133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12464" y="3758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712464" y="4069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66360" y="3611880"/>
            <a:ext cx="2057400" cy="896112"/>
          </a:xfrm>
          <a:prstGeom prst="roundRect">
            <a:avLst>
              <a:gd name="adj" fmla="val 1020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ck/icons/tailwi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3831336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52744" y="3758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952744" y="4069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47548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Lanjutan course →  TypeScript · React · React Aria · Laravel · Inertia.js · PostgreSQL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Alwin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6144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Satya Terra Bhinneka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635240" y="118872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872984" y="140360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092440" y="140360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311896" y="140360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8595360" y="1252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7891272" y="1664208"/>
            <a:ext cx="346557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 Saya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&lt;header&gt;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2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2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&lt;footer&gt;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2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Perkuliahan — 16 Pertemuan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dari fondasi frontend hingga aplikasi full-stack siap industri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481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DASAR  ·  1–8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4813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FULL-STACK  ·  9–16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18562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18288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Pengantar &amp; Ekosistem Web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" y="2359152"/>
            <a:ext cx="5321808" cy="438912"/>
          </a:xfrm>
          <a:prstGeom prst="roundRect">
            <a:avLst>
              <a:gd name="adj" fmla="val 16667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24048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8580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16152" y="237744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Frontend: HTML, CSS, Tailwind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29535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858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16152" y="292608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Modern (ES6+)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35021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858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16152" y="347472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untuk Industri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5800" y="40507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858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216152" y="402336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" y="45994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8580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216152" y="4572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Hooks &amp; Interaktivitas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5800" y="51480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8580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216152" y="512064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Aksesibel: React Aria &amp;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BaseUI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30936" y="5650992"/>
            <a:ext cx="5321808" cy="438912"/>
          </a:xfrm>
          <a:prstGeom prst="roundRect">
            <a:avLst>
              <a:gd name="adj" fmla="val 16667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85800" y="56967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68580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216152" y="566928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 — Ujian Tengah Semester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355080" y="18562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35508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885432" y="18288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Laravel: MVC, Routing &amp; Lifecycle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355080" y="24048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6355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885432" y="237744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Eloquent ORM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355080" y="29535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635508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885432" y="292608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Request, Resources &amp; Enum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355080" y="350215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635508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885432" y="347472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Inertia.js: Modern Monolith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355080" y="405079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635508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885432" y="402336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Full-Stack End-to-End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355080" y="45994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635508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6885432" y="4572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Autentikasi, Otorisasi &amp; Keamanan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355080" y="51480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 txBox="1"/>
          <p:nvPr/>
        </p:nvSpPr>
        <p:spPr>
          <a:xfrm>
            <a:off x="635508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885432" y="512064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Lanjutan &amp; Deployment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6300216" y="5650992"/>
            <a:ext cx="5321808" cy="438912"/>
          </a:xfrm>
          <a:prstGeom prst="roundRect">
            <a:avLst>
              <a:gd name="adj" fmla="val 16667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6355080" y="56967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 txBox="1"/>
          <p:nvPr/>
        </p:nvSpPr>
        <p:spPr>
          <a:xfrm>
            <a:off x="635508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6885432" y="5669280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— Proyek Akhir</a:t>
            </a:r>
            <a:endParaRPr lang="en-US" sz="1250" dirty="0"/>
          </a:p>
        </p:txBody>
      </p:sp>
      <p:sp>
        <p:nvSpPr>
          <p:cNvPr id="59" name="Text 5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pertemuan ini, mahasiswa mampu: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53619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691640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lay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65" y="1829897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09344"/>
            <a:ext cx="9857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struktur halaman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HTML5 semantik yang benar dan mudah dipelihara.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48716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49808" y="2642616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deck/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65" y="2780873"/>
            <a:ext cx="235549" cy="2355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2560320"/>
            <a:ext cx="9857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CSS3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model, Flexbox, dan Grid untuk menata tata letak.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3438144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749808" y="3593592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/home/claude/deck/icons/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065" y="3731849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3511296"/>
            <a:ext cx="9857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tampilan responsif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pendekatan mobile-first di berbagai perangkat.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43891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749808" y="4544568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/home/claude/deck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065" y="4682825"/>
            <a:ext cx="235549" cy="2355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08760" y="4462272"/>
            <a:ext cx="9857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aksesibilitas &amp; SEO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standar kualitas markup di industri.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48640" y="5340096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749808" y="5495544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/home/claude/deck/icons/z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065" y="5633801"/>
            <a:ext cx="235549" cy="235549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08760" y="5413248"/>
            <a:ext cx="9857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utility-first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menulis Tailwind CSS dasar untuk styling cepat &amp; konsisten.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Pilar Pengembangan Frontend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bagaimana sebuah halaman web dibangun di sisi klien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2057400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htm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249424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4672" y="3017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3374136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&amp; Makna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&amp; konten halaman</a:t>
            </a:r>
            <a:endParaRPr lang="en-US" sz="1250" dirty="0"/>
          </a:p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</a:t>
            </a:r>
            <a:endParaRPr lang="en-US" sz="1250" dirty="0"/>
          </a:p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aksesibilitas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34256" y="17830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90288" y="2057400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ck/icons/cs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24942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90288" y="3017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590288" y="3374136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&amp; Tata Letak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Warna, tipografi, spacing</a:t>
            </a:r>
            <a:endParaRPr lang="en-US" sz="1250" dirty="0"/>
          </a:p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Flexbox &amp; Grid</a:t>
            </a:r>
            <a:endParaRPr lang="en-US" sz="1250" dirty="0"/>
          </a:p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responsif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19872" y="17830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143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375904" y="2057400"/>
            <a:ext cx="841248" cy="841248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javascr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2249424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75904" y="3017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375904" y="3374136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&amp; Interaksi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394192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manipulasi DOM</a:t>
            </a:r>
            <a:endParaRPr lang="en-US" sz="1250" dirty="0"/>
          </a:p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data (fetch/async)</a:t>
            </a:r>
            <a:endParaRPr lang="en-US" sz="1250" dirty="0"/>
          </a:p>
          <a:p>
            <a:pPr marL="203200" indent="-203200" algn="l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Dibahas di Pertemuan 3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39496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deck/icons/arrow_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563270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5394960"/>
            <a:ext cx="10177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dikirim server ke browser,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dirender menjadi antarmuka yang dilihat &amp; digunakan pengguna.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8229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  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&amp; Semantik Halaman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67258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35608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dokumen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38728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21608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lay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052" y="467258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88536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91656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74536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s/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46725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41464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modern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244584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427464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908" y="467258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94392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 &amp; SEO</a:t>
            </a:r>
            <a:endParaRPr lang="en-US" sz="1250" dirty="0"/>
          </a:p>
        </p:txBody>
      </p:sp>
      <p:pic>
        <p:nvPicPr>
          <p:cNvPr id="22" name="Image 4" descr="/home/claude/deck/icons/htm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0" y="640080"/>
            <a:ext cx="868680" cy="8686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HTML?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 — bahasa markup untuk struktur &amp; makna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Markup, bukan bahasa pemrograman: menandai makna konten.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Ditulis dengan elemen &amp; tag berpasangan: &lt;tag&gt;konten&lt;/tag&gt;.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mengurai (parse) HTML menjadi DOM — pohon objek dokumen.</a:t>
            </a:r>
            <a:endParaRPr lang="en-US" sz="1450" dirty="0"/>
          </a:p>
          <a:p>
            <a:pPr marL="203200" indent="-203200" algn="l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inilah yang di-styling oleh CSS dan dimanipulasi oleh JavaScript.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5943600" cy="1234440"/>
          </a:xfrm>
          <a:prstGeom prst="roundRect">
            <a:avLst>
              <a:gd name="adj" fmla="val 740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8096" y="4658868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deck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4797125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43891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adalah rangka bangunan, CSS adalah cat &amp; desainnya, JavaScript adalah kelistrikannya.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858000" y="1554480"/>
            <a:ext cx="4782312" cy="39776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7132320" y="173736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→  DOM (pohon)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868412" y="228600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7868412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flipH="1">
            <a:off x="7726680" y="2743200"/>
            <a:ext cx="758952" cy="3657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85632" y="2743200"/>
            <a:ext cx="763524" cy="3657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09460" y="306324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7109460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631936" y="306324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8631936" y="3063240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 flipH="1">
            <a:off x="7726680" y="3520440"/>
            <a:ext cx="1522476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109460" y="406908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7109460" y="4069080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249156" y="3520440"/>
            <a:ext cx="0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631936" y="406908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8631936" y="4069080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249156" y="3520440"/>
            <a:ext cx="1522476" cy="5486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0154412" y="406908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10154412" y="4069080"/>
            <a:ext cx="1234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7132320" y="493776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tag menjadi node yang bisa distyling &amp; diprogram.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Dokumen HTML5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minimum setiap halaman web modern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309360" cy="3977640"/>
          </a:xfrm>
          <a:prstGeom prst="roundRect">
            <a:avLst>
              <a:gd name="adj" fmla="val 229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86384" y="181508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181508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225296" y="181508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508760" y="16642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075688"/>
            <a:ext cx="5797296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"viewport"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content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"width=device-width,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initial-scale=1"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 Saya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Halo, Dunia!</a:t>
            </a:r>
            <a:r>
              <a:rPr lang="en-US" sz="12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040880" y="1627632"/>
            <a:ext cx="4599432" cy="758952"/>
          </a:xfrm>
          <a:prstGeom prst="roundRect">
            <a:avLst>
              <a:gd name="adj" fmla="val 1084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205472" y="182880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2054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699248" y="1682496"/>
            <a:ext cx="3822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Mengaktifkan mode HTML5 standar.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040880" y="2432304"/>
            <a:ext cx="4599432" cy="758952"/>
          </a:xfrm>
          <a:prstGeom prst="roundRect">
            <a:avLst>
              <a:gd name="adj" fmla="val 1084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205472" y="263347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205472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699248" y="2487168"/>
            <a:ext cx="3822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lang="id"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halaman — penting untuk a11y &amp; SEO.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040880" y="3236976"/>
            <a:ext cx="4599432" cy="758952"/>
          </a:xfrm>
          <a:prstGeom prst="roundRect">
            <a:avLst>
              <a:gd name="adj" fmla="val 1084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205472" y="343814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205472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699248" y="3291840"/>
            <a:ext cx="3822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charset&gt;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UTF-8 agar teks tampil benar.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040880" y="4041648"/>
            <a:ext cx="4599432" cy="758952"/>
          </a:xfrm>
          <a:prstGeom prst="roundRect">
            <a:avLst>
              <a:gd name="adj" fmla="val 1084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205472" y="424281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205472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699248" y="4096512"/>
            <a:ext cx="3822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viewport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agar tampilan responsif di ponsel.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040880" y="4846320"/>
            <a:ext cx="4599432" cy="758952"/>
          </a:xfrm>
          <a:prstGeom prst="roundRect">
            <a:avLst>
              <a:gd name="adj" fmla="val 1084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205472" y="504748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205472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699248" y="4901184"/>
            <a:ext cx="3822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 vs &lt;body&gt;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vs konten yang tampil.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Semantik — Kenapa Penting?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tag yang bermakna, bukan tumpukan &lt;div&gt;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deck/icons/x_r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1965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15568" y="18013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makna — "div soup"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77240" y="2258568"/>
            <a:ext cx="4937760" cy="187452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14984" y="2473452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234440" y="2473452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453896" y="2473452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1033272" y="2734056"/>
            <a:ext cx="44256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"header"</a:t>
            </a: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&gt;…&lt;/div&gt;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"nav"</a:t>
            </a: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&gt;…&lt;/div&gt;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&gt;…&lt;/div&gt;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"footer"</a:t>
            </a: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&gt;…&lt;/div&gt;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45352" y="16002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ck/icons/check_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81965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8013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Bermakna — semantik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73952" y="2258568"/>
            <a:ext cx="4937760" cy="187452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711696" y="2473452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931152" y="2473452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150608" y="2473452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6729984" y="2734056"/>
            <a:ext cx="44256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1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572000"/>
            <a:ext cx="3514344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31520" y="48234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deck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494690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0160" y="4645152"/>
            <a:ext cx="26456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Dibaca screen reader &amp; teknologi bantu.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337304" y="4572000"/>
            <a:ext cx="3514344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520184" y="48234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/home/claude/deck/icons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628" y="4946904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068824" y="4645152"/>
            <a:ext cx="26456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pencari memahami struktur konten.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8125968" y="4572000"/>
            <a:ext cx="3514344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08848" y="48234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ck/icons/refre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292" y="4946904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857488" y="4645152"/>
            <a:ext cx="26456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lebih mudah dibaca &amp; dirawat tim.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 Utama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tag untuk menyusun tata letak halaman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562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 halaman: logo, judul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84832"/>
            <a:ext cx="562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    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Kumpulan tautan navigasi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69464"/>
            <a:ext cx="562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   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utama (unik, satu per halaman)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54096"/>
            <a:ext cx="562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konten bertema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38728"/>
            <a:ext cx="562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mandiri (mis. satu postingan)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23360"/>
            <a:ext cx="562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  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samping / pelengkap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07992"/>
            <a:ext cx="562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 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Kaki halaman: kontak, hak cipta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992624"/>
            <a:ext cx="562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&lt;h1&gt;–&lt;h6&gt; 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Hierarki judul yang bermakna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1645920"/>
            <a:ext cx="4736592" cy="3931920"/>
          </a:xfrm>
          <a:prstGeom prst="roundRect">
            <a:avLst>
              <a:gd name="adj" fmla="val 279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159752" y="1901952"/>
            <a:ext cx="4224528" cy="548640"/>
          </a:xfrm>
          <a:prstGeom prst="roundRect">
            <a:avLst>
              <a:gd name="adj" fmla="val 11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159752" y="1901952"/>
            <a:ext cx="422452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59752" y="2578608"/>
            <a:ext cx="4224528" cy="38404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159752" y="2578608"/>
            <a:ext cx="42245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59752" y="3090672"/>
            <a:ext cx="2639690" cy="1417320"/>
          </a:xfrm>
          <a:prstGeom prst="roundRect">
            <a:avLst>
              <a:gd name="adj" fmla="val 4516"/>
            </a:avLst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159752" y="3090672"/>
            <a:ext cx="263969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927458" y="3090672"/>
            <a:ext cx="1456822" cy="1417320"/>
          </a:xfrm>
          <a:prstGeom prst="roundRect">
            <a:avLst>
              <a:gd name="adj" fmla="val 451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9927458" y="3090672"/>
            <a:ext cx="1456822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24344" y="3547872"/>
            <a:ext cx="231050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324344" y="3547872"/>
            <a:ext cx="231050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59752" y="4636008"/>
            <a:ext cx="4224528" cy="502920"/>
          </a:xfrm>
          <a:prstGeom prst="roundRect">
            <a:avLst>
              <a:gd name="adj" fmla="val 1272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159752" y="4636008"/>
            <a:ext cx="422452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Input Modern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 masuk data dari pengguna ke aplikasi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852160" cy="3886200"/>
          </a:xfrm>
          <a:prstGeom prst="roundRect">
            <a:avLst>
              <a:gd name="adj" fmla="val 235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86384" y="184251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184251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225296" y="1842516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508760" y="16916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kontak.html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103120"/>
            <a:ext cx="534009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"/kontak"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&gt;Email&lt;/label&gt;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"pesan"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&gt;Pesan&lt;/label&gt;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"pesan"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&gt;&lt;/textarea&gt;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&gt;Kirim&lt;/button&gt;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0840" y="1627632"/>
            <a:ext cx="4919472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013448" y="173736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PRATINJAU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013448" y="201168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013448" y="2249424"/>
            <a:ext cx="433425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141464" y="2249424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nama@email.com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13448" y="272491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013448" y="2962656"/>
            <a:ext cx="433425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013448" y="3639312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013448" y="3639312"/>
            <a:ext cx="12344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</a:t>
            </a:r>
            <a:endParaRPr lang="en-US" sz="1200" dirty="0"/>
          </a:p>
        </p:txBody>
      </p:sp>
      <p:pic>
        <p:nvPicPr>
          <p:cNvPr id="21" name="Image 1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43484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150608" y="4315968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modern (email, number, date) → validasi &amp; keyboard tepat</a:t>
            </a:r>
            <a:endParaRPr lang="en-US" sz="1200" dirty="0"/>
          </a:p>
        </p:txBody>
      </p:sp>
      <p:pic>
        <p:nvPicPr>
          <p:cNvPr id="23" name="Image 2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89204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150608" y="4773168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for/id → wajib untuk aksesibilitas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720840" y="5285232"/>
            <a:ext cx="4919472" cy="896112"/>
          </a:xfrm>
          <a:prstGeom prst="roundRect">
            <a:avLst>
              <a:gd name="adj" fmla="val 10204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922008" y="550468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/home/claude/deck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452" y="5628132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70648" y="5349240"/>
            <a:ext cx="4050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ke backend: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 divalidasi &amp; disimpan Laravel (Pertemuan 11 &amp; 13).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 (a11y) &amp; SEO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kualitas, bukan sekadar tambahan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1883664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4" y="2012046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88366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</a:t>
            </a:r>
            <a:endParaRPr lang="en-US" sz="1700" dirty="0"/>
          </a:p>
        </p:txBody>
      </p:sp>
      <p:pic>
        <p:nvPicPr>
          <p:cNvPr id="10" name="Image 2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66547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25296" y="2560320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alternatif (alt) pada gambar</a:t>
            </a:r>
            <a:endParaRPr lang="en-US" sz="1250" dirty="0"/>
          </a:p>
        </p:txBody>
      </p:sp>
      <p:pic>
        <p:nvPicPr>
          <p:cNvPr id="12" name="Image 3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11353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25296" y="3008376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&lt;h1&gt; &amp; hierarki heading rapi</a:t>
            </a:r>
            <a:endParaRPr lang="en-US" sz="1250" dirty="0"/>
          </a:p>
        </p:txBody>
      </p:sp>
      <p:pic>
        <p:nvPicPr>
          <p:cNvPr id="14" name="Image 4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6158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25296" y="3456432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 warna mencukupi</a:t>
            </a:r>
            <a:endParaRPr lang="en-US" sz="1250" dirty="0"/>
          </a:p>
        </p:txBody>
      </p:sp>
      <p:pic>
        <p:nvPicPr>
          <p:cNvPr id="16" name="Image 5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09644"/>
            <a:ext cx="237744" cy="23774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25296" y="390448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dinavigasi dengan keyboard</a:t>
            </a:r>
            <a:endParaRPr lang="en-US" sz="1250" dirty="0"/>
          </a:p>
        </p:txBody>
      </p:sp>
      <p:pic>
        <p:nvPicPr>
          <p:cNvPr id="18" name="Image 6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457700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25296" y="4352544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pada setiap input</a:t>
            </a:r>
            <a:endParaRPr lang="en-US" sz="1250" dirty="0"/>
          </a:p>
        </p:txBody>
      </p:sp>
      <p:sp>
        <p:nvSpPr>
          <p:cNvPr id="20" name="Shape 11"/>
          <p:cNvSpPr/>
          <p:nvPr/>
        </p:nvSpPr>
        <p:spPr>
          <a:xfrm>
            <a:off x="6245352" y="16459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2"/>
          <p:cNvSpPr/>
          <p:nvPr/>
        </p:nvSpPr>
        <p:spPr>
          <a:xfrm>
            <a:off x="6501384" y="1883664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7" descr="/home/claude/deck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766" y="2012046"/>
            <a:ext cx="218724" cy="218724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114032" y="188366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700" dirty="0"/>
          </a:p>
        </p:txBody>
      </p:sp>
      <p:pic>
        <p:nvPicPr>
          <p:cNvPr id="24" name="Image 8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65476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922008" y="2560320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 &amp; &lt;title&gt; deskriptif</a:t>
            </a:r>
            <a:endParaRPr lang="en-US" sz="1250" dirty="0"/>
          </a:p>
        </p:txBody>
      </p:sp>
      <p:pic>
        <p:nvPicPr>
          <p:cNvPr id="26" name="Image 9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113532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922008" y="3008376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 yang relevan</a:t>
            </a:r>
            <a:endParaRPr lang="en-US" sz="1250" dirty="0"/>
          </a:p>
        </p:txBody>
      </p:sp>
      <p:pic>
        <p:nvPicPr>
          <p:cNvPr id="28" name="Image 10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561588"/>
            <a:ext cx="237744" cy="2377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922008" y="3456432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heading yang bermakna</a:t>
            </a:r>
            <a:endParaRPr lang="en-US" sz="1250" dirty="0"/>
          </a:p>
        </p:txBody>
      </p:sp>
      <p:pic>
        <p:nvPicPr>
          <p:cNvPr id="30" name="Image 11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009644"/>
            <a:ext cx="237744" cy="237744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922008" y="390448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tautan &amp; URL yang jelas</a:t>
            </a:r>
            <a:endParaRPr lang="en-US" sz="1250" dirty="0"/>
          </a:p>
        </p:txBody>
      </p:sp>
      <p:pic>
        <p:nvPicPr>
          <p:cNvPr id="32" name="Image 12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457700"/>
            <a:ext cx="237744" cy="237744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6922008" y="4352544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&amp; ramah perangkat mobile</a:t>
            </a:r>
            <a:endParaRPr lang="en-US" sz="1250" dirty="0"/>
          </a:p>
        </p:txBody>
      </p:sp>
      <p:sp>
        <p:nvSpPr>
          <p:cNvPr id="34" name="Shape 19"/>
          <p:cNvSpPr/>
          <p:nvPr/>
        </p:nvSpPr>
        <p:spPr>
          <a:xfrm>
            <a:off x="548640" y="507492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0"/>
          <p:cNvSpPr/>
          <p:nvPr/>
        </p:nvSpPr>
        <p:spPr>
          <a:xfrm>
            <a:off x="768096" y="5294376"/>
            <a:ext cx="457200" cy="4572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13" descr="/home/claude/deck/icons/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417820"/>
            <a:ext cx="210312" cy="210312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1325880" y="5074920"/>
            <a:ext cx="10085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7: 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Aria menghadirkan komponen yang aksesibel secara default — a11y jadi lebih mudah.</a:t>
            </a:r>
            <a:endParaRPr lang="en-US" sz="1300" dirty="0"/>
          </a:p>
        </p:txBody>
      </p:sp>
      <p:sp>
        <p:nvSpPr>
          <p:cNvPr id="38" name="Text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9" name="Text 2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8229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  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&amp; Tata Letak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67258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35608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Selektor &amp; cascade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38728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21608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052" y="467258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88536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91656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74536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s/colum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46725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41464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244584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427464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maximiz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908" y="467258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94392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</a:t>
            </a:r>
            <a:endParaRPr lang="en-US" sz="1250" dirty="0"/>
          </a:p>
        </p:txBody>
      </p:sp>
      <p:pic>
        <p:nvPicPr>
          <p:cNvPr id="22" name="Image 4" descr="/home/claude/deck/icons/cs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0" y="640080"/>
            <a:ext cx="868680" cy="8686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CSS &amp; Cara Kerjanya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— mengatur seluruh tampilan halaman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5806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tampilan: warna, tipografi, spacing, dan tata letak.</a:t>
            </a:r>
            <a:endParaRPr lang="en-US" sz="1400" dirty="0"/>
          </a:p>
          <a:p>
            <a:pPr marL="203200" indent="-203200" algn="l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aturan berbentuk: selector { property: value; }</a:t>
            </a:r>
            <a:endParaRPr lang="en-US" sz="1400" dirty="0"/>
          </a:p>
          <a:p>
            <a:pPr marL="203200" indent="-203200" algn="l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&amp; specificity menentukan aturan mana yang menang.</a:t>
            </a:r>
            <a:endParaRPr lang="en-US" sz="1400" dirty="0"/>
          </a:p>
          <a:p>
            <a:pPr marL="203200" indent="-203200" algn="l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terbaik: tulis di file .css eksternal, lalu hubungkan.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5806440" cy="1234440"/>
          </a:xfrm>
          <a:prstGeom prst="roundRect">
            <a:avLst>
              <a:gd name="adj" fmla="val 740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86384" y="432968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05840" y="432968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225296" y="432968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04672" y="4590288"/>
            <a:ext cx="52943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di dalam &lt;head&gt; --&gt;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"style.css"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0" y="1627632"/>
            <a:ext cx="4782312" cy="3886200"/>
          </a:xfrm>
          <a:prstGeom prst="roundRect">
            <a:avLst>
              <a:gd name="adj" fmla="val 282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132320" y="1810512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 Aturan CSS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32320" y="2212848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370064" y="2427732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589520" y="2427732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808976" y="2427732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88352" y="2688336"/>
            <a:ext cx="3721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</a:t>
            </a: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</a:t>
            </a: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32320" y="3246120"/>
            <a:ext cx="1234440" cy="329184"/>
          </a:xfrm>
          <a:prstGeom prst="roundRect">
            <a:avLst>
              <a:gd name="adj" fmla="val 4444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132320" y="3246120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485632" y="32004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555480" y="32004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yang akan ditata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132320" y="3703320"/>
            <a:ext cx="1234440" cy="329184"/>
          </a:xfrm>
          <a:prstGeom prst="roundRect">
            <a:avLst>
              <a:gd name="adj" fmla="val 4444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132320" y="3703320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485632" y="36576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555480" y="36576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yang diubah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132320" y="4160520"/>
            <a:ext cx="1234440" cy="329184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7132320" y="4160520"/>
            <a:ext cx="12344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485632" y="4114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555480" y="4114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dari sifat itu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Box Model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elemen HTML adalah sebuah kotak berlapis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852160" cy="3840480"/>
          </a:xfrm>
          <a:prstGeom prst="roundRect">
            <a:avLst>
              <a:gd name="adj" fmla="val 2381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04672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07008" y="2304288"/>
            <a:ext cx="4718304" cy="2706624"/>
          </a:xfrm>
          <a:prstGeom prst="roundRect">
            <a:avLst>
              <a:gd name="adj" fmla="val 2703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3716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773936" y="2871216"/>
            <a:ext cx="3584448" cy="1572768"/>
          </a:xfrm>
          <a:prstGeom prst="roundRect">
            <a:avLst>
              <a:gd name="adj" fmla="val 407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938528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40864" y="3438144"/>
            <a:ext cx="2450592" cy="438912"/>
          </a:xfrm>
          <a:prstGeom prst="roundRect">
            <a:avLst>
              <a:gd name="adj" fmla="val 12500"/>
            </a:avLst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340864" y="343814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773936" y="4526280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× height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66560" y="18836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A5F3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223760" y="1828800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elemen: teks atau gambar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766560" y="24323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CFF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223760" y="2377440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dalam, antara konten &amp; border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766560" y="29809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DBA7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223760" y="2926080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tepi elemen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66560" y="35295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ED7A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223760" y="3474720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luar, jarak antar elemen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66560" y="4297680"/>
            <a:ext cx="4873752" cy="1234440"/>
          </a:xfrm>
          <a:prstGeom prst="roundRect">
            <a:avLst>
              <a:gd name="adj" fmla="val 740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022592" y="4407408"/>
            <a:ext cx="4361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box-sizing: border-box
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lebar/tinggi lebih mudah diprediksi — default di Tailwind &amp; praktik modern.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olum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Modern 1 — Flexbox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elemen dalam 1 dimensi: satu baris atau satu kolom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051560" y="1965960"/>
            <a:ext cx="5897880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325880" y="233172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325880" y="2331720"/>
            <a:ext cx="9601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788920" y="233172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788920" y="2331720"/>
            <a:ext cx="9601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51960" y="233172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251960" y="2331720"/>
            <a:ext cx="9601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15000" y="233172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715000" y="2331720"/>
            <a:ext cx="9601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97280" y="3767328"/>
            <a:ext cx="5852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097280" y="3840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 →  justify-content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33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axis (vertikal) diatur oleh align-items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51560" y="4526280"/>
            <a:ext cx="5897880" cy="1234440"/>
          </a:xfrm>
          <a:prstGeom prst="roundRect">
            <a:avLst>
              <a:gd name="adj" fmla="val 740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89304" y="474116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508760" y="474116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728216" y="474116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07592" y="5001768"/>
            <a:ext cx="53858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69480" y="1965960"/>
            <a:ext cx="4370832" cy="3794760"/>
          </a:xfrm>
          <a:prstGeom prst="roundRect">
            <a:avLst>
              <a:gd name="adj" fmla="val 2892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543800" y="214884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Kunci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543800" y="265176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Mengaktifkan flexbox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543800" y="327355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(default) / column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543800" y="3895344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Perataan di sumbu utama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7543800" y="451713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Perataan di sumbu silang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7543800" y="513892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
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antar item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Modern 2 — CSS Grid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elemen dalam 2 dimensi: baris dan kolom sekaligus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6035040" cy="278892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2103120"/>
            <a:ext cx="1737360" cy="1074420"/>
          </a:xfrm>
          <a:prstGeom prst="roundRect">
            <a:avLst>
              <a:gd name="adj" fmla="val 59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2103120"/>
            <a:ext cx="173736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788920" y="2103120"/>
            <a:ext cx="1737360" cy="1074420"/>
          </a:xfrm>
          <a:prstGeom prst="roundRect">
            <a:avLst>
              <a:gd name="adj" fmla="val 59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788920" y="2103120"/>
            <a:ext cx="173736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709160" y="2103120"/>
            <a:ext cx="1737360" cy="1074420"/>
          </a:xfrm>
          <a:prstGeom prst="roundRect">
            <a:avLst>
              <a:gd name="adj" fmla="val 59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709160" y="2103120"/>
            <a:ext cx="173736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68680" y="3360420"/>
            <a:ext cx="1737360" cy="1074420"/>
          </a:xfrm>
          <a:prstGeom prst="roundRect">
            <a:avLst>
              <a:gd name="adj" fmla="val 59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" y="3360420"/>
            <a:ext cx="173736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788920" y="3360420"/>
            <a:ext cx="1737360" cy="1074420"/>
          </a:xfrm>
          <a:prstGeom prst="roundRect">
            <a:avLst>
              <a:gd name="adj" fmla="val 59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2788920" y="3360420"/>
            <a:ext cx="173736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709160" y="3360420"/>
            <a:ext cx="1737360" cy="1074420"/>
          </a:xfrm>
          <a:prstGeom prst="roundRect">
            <a:avLst>
              <a:gd name="adj" fmla="val 59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709160" y="3360420"/>
            <a:ext cx="173736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4800600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77824" y="501548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97280" y="501548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316736" y="501548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896112" y="5276088"/>
            <a:ext cx="5522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repeat(3, 1fr)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903720" y="1874520"/>
            <a:ext cx="4736592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7178040" y="202996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Kunci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223760" y="239572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223760" y="270662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grid-template-rows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30175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223760" y="332841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 / grid-row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03720" y="3794760"/>
            <a:ext cx="4736592" cy="1783080"/>
          </a:xfrm>
          <a:prstGeom prst="roundRect">
            <a:avLst>
              <a:gd name="adj" fmla="val 6154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178040" y="395020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vs Grid — kapan?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7196328" y="4315968"/>
            <a:ext cx="4187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Flexbox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dimensi (menu, baris komponen)
</a:t>
            </a: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dimensi (layout halaman, galeri)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Responsif &amp; Mobile-First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halaman, tampil optimal di semua ukuran layar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914400" y="1965960"/>
            <a:ext cx="1371600" cy="26060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24128" y="2075688"/>
            <a:ext cx="1152144" cy="238658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152144" y="2203704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52144" y="2569464"/>
            <a:ext cx="896112" cy="384048"/>
          </a:xfrm>
          <a:prstGeom prst="roundRect">
            <a:avLst>
              <a:gd name="adj" fmla="val 952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152144" y="3063240"/>
            <a:ext cx="896112" cy="384048"/>
          </a:xfrm>
          <a:prstGeom prst="roundRect">
            <a:avLst>
              <a:gd name="adj" fmla="val 952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52144" y="3557016"/>
            <a:ext cx="896112" cy="384048"/>
          </a:xfrm>
          <a:prstGeom prst="roundRect">
            <a:avLst>
              <a:gd name="adj" fmla="val 952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063240" y="2148840"/>
            <a:ext cx="228600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72968" y="2258568"/>
            <a:ext cx="2066544" cy="2020824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00984" y="2386584"/>
            <a:ext cx="1810512" cy="256032"/>
          </a:xfrm>
          <a:prstGeom prst="roundRect">
            <a:avLst>
              <a:gd name="adj" fmla="val 14286"/>
            </a:avLst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00984" y="2752344"/>
            <a:ext cx="850392" cy="1380744"/>
          </a:xfrm>
          <a:prstGeom prst="roundRect">
            <a:avLst>
              <a:gd name="adj" fmla="val 430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61104" y="2752344"/>
            <a:ext cx="850392" cy="1380744"/>
          </a:xfrm>
          <a:prstGeom prst="roundRect">
            <a:avLst>
              <a:gd name="adj" fmla="val 430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52160" y="2286000"/>
            <a:ext cx="411480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61888" y="2395728"/>
            <a:ext cx="3895344" cy="1746504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89904" y="2523744"/>
            <a:ext cx="3639312" cy="256032"/>
          </a:xfrm>
          <a:prstGeom prst="roundRect">
            <a:avLst>
              <a:gd name="adj" fmla="val 14286"/>
            </a:avLst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089904" y="2889504"/>
            <a:ext cx="1139952" cy="1106424"/>
          </a:xfrm>
          <a:prstGeom prst="roundRect">
            <a:avLst>
              <a:gd name="adj" fmla="val 330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339584" y="2889504"/>
            <a:ext cx="1139952" cy="1106424"/>
          </a:xfrm>
          <a:prstGeom prst="roundRect">
            <a:avLst>
              <a:gd name="adj" fmla="val 330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589264" y="2889504"/>
            <a:ext cx="1139952" cy="1106424"/>
          </a:xfrm>
          <a:prstGeom prst="roundRect">
            <a:avLst>
              <a:gd name="adj" fmla="val 330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/home/claude/deck/icons/arrow_s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3063240"/>
            <a:ext cx="365760" cy="365760"/>
          </a:xfrm>
          <a:prstGeom prst="rect">
            <a:avLst/>
          </a:prstGeom>
        </p:spPr>
      </p:pic>
      <p:pic>
        <p:nvPicPr>
          <p:cNvPr id="24" name="Image 2" descr="/home/claude/deck/icons/arrow_s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06324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14400" y="160020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 →  perbesar dari layar kecil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91440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 &lt;640px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306324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 ≥768px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585216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 ≥1024px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5074920"/>
            <a:ext cx="2601468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731520" y="525780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/home/claude/deck/icons/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1" y="5366431"/>
            <a:ext cx="185075" cy="18507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225296" y="5221224"/>
            <a:ext cx="1824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1225296" y="5532120"/>
            <a:ext cx="182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Mulai dari layar kecil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78708" y="5074920"/>
            <a:ext cx="2601468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561588" y="525780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4" descr="/home/claude/deck/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0219" y="5366431"/>
            <a:ext cx="185075" cy="18507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055364" y="5221224"/>
            <a:ext cx="1824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250" dirty="0"/>
          </a:p>
        </p:txBody>
      </p:sp>
      <p:sp>
        <p:nvSpPr>
          <p:cNvPr id="38" name="Text 31"/>
          <p:cNvSpPr txBox="1"/>
          <p:nvPr/>
        </p:nvSpPr>
        <p:spPr>
          <a:xfrm>
            <a:off x="4055364" y="5532120"/>
            <a:ext cx="182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(min-width…)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208776" y="5074920"/>
            <a:ext cx="2601468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391656" y="525780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/home/claude/deck/icons/maximiz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287" y="5366431"/>
            <a:ext cx="185075" cy="18507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885432" y="5221224"/>
            <a:ext cx="1824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relatif</a:t>
            </a:r>
            <a:endParaRPr lang="en-US" sz="1250" dirty="0"/>
          </a:p>
        </p:txBody>
      </p:sp>
      <p:sp>
        <p:nvSpPr>
          <p:cNvPr id="43" name="Text 35"/>
          <p:cNvSpPr txBox="1"/>
          <p:nvPr/>
        </p:nvSpPr>
        <p:spPr>
          <a:xfrm>
            <a:off x="6885432" y="5532120"/>
            <a:ext cx="182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rem, %, vw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9038844" y="5074920"/>
            <a:ext cx="2601468" cy="96012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9221724" y="525780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/home/claude/deck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355" y="5366431"/>
            <a:ext cx="185075" cy="18507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9715500" y="5221224"/>
            <a:ext cx="1824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Tailwind</a:t>
            </a:r>
            <a:endParaRPr lang="en-US" sz="1250" dirty="0"/>
          </a:p>
        </p:txBody>
      </p:sp>
      <p:sp>
        <p:nvSpPr>
          <p:cNvPr id="48" name="Text 39"/>
          <p:cNvSpPr txBox="1"/>
          <p:nvPr/>
        </p:nvSpPr>
        <p:spPr>
          <a:xfrm>
            <a:off x="9715500" y="5532120"/>
            <a:ext cx="182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sm:  md:  lg: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8229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  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industri menata gaya hari ini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67258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35608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CSS klasik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38728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21608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052" y="467258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88536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 utility-first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91656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74536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46725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41464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244584" y="434340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427464" y="45491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908" y="467258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94392" y="43434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UI</a:t>
            </a:r>
            <a:endParaRPr lang="en-US" sz="1250" dirty="0"/>
          </a:p>
        </p:txBody>
      </p:sp>
      <p:pic>
        <p:nvPicPr>
          <p:cNvPr id="22" name="Image 4" descr="/home/claude/deck/icons/tailwi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0" y="640080"/>
            <a:ext cx="868680" cy="8686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CSS Tradisional di Skala Besar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industri mencari pendekatan baru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08676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2121408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" y="2259665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121408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Penamaan kelas melelahkan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697480"/>
            <a:ext cx="42199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Memikirkan nama unik seperti .card__title--active menyita waktu.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31636" y="1828800"/>
            <a:ext cx="5408676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05956" y="2121408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deck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213" y="225966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1756" y="2121408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global mudah bocor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191756" y="2697480"/>
            <a:ext cx="42199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satu aturan bisa merusak bagian lain tanpa disadari.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5408676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22960" y="4178808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ck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317065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178808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mati menumpuk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508760" y="4754880"/>
            <a:ext cx="42199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 menghapus aturan lama; file CSS terus membengkak.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31636" y="3886200"/>
            <a:ext cx="5408676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505956" y="4178808"/>
            <a:ext cx="512064" cy="51206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deck/icons/refre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213" y="4317065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91756" y="4178808"/>
            <a:ext cx="4219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Bolak-balik antar file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191756" y="4754880"/>
            <a:ext cx="42199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Berpindah HTML ↔ CSS terus-menerus memperlambat kerja.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 Utility-First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tampilan dari kelas utilitas kecil, langsung di markup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Keuntungan Utama</a:t>
            </a:r>
            <a:endParaRPr lang="en-US" sz="1500" dirty="0"/>
          </a:p>
        </p:txBody>
      </p:sp>
      <p:pic>
        <p:nvPicPr>
          <p:cNvPr id="8" name="Image 1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478024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2331720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Cepat: tanpa berpindah ke file CSS</a:t>
            </a:r>
            <a:endParaRPr lang="en-US" sz="1300" dirty="0"/>
          </a:p>
        </p:txBody>
      </p:sp>
      <p:pic>
        <p:nvPicPr>
          <p:cNvPr id="10" name="Image 2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00837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25296" y="2862072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Konsisten: memakai skala / design token</a:t>
            </a:r>
            <a:endParaRPr lang="en-US" sz="1300" dirty="0"/>
          </a:p>
        </p:txBody>
      </p:sp>
      <p:pic>
        <p:nvPicPr>
          <p:cNvPr id="12" name="Image 3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3872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25296" y="3392424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pusing memikirkan nama kelas</a:t>
            </a:r>
            <a:endParaRPr lang="en-US" sz="1300" dirty="0"/>
          </a:p>
        </p:txBody>
      </p:sp>
      <p:pic>
        <p:nvPicPr>
          <p:cNvPr id="14" name="Image 4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69080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25296" y="3922776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membuang CSS tak terpakai (build)</a:t>
            </a:r>
            <a:endParaRPr lang="en-US" sz="1300" dirty="0"/>
          </a:p>
        </p:txBody>
      </p:sp>
      <p:pic>
        <p:nvPicPr>
          <p:cNvPr id="16" name="Image 5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599432"/>
            <a:ext cx="237744" cy="23774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25296" y="4453128"/>
            <a:ext cx="4462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dipelihara &amp; seragam antar tim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858000" y="1691640"/>
            <a:ext cx="4782312" cy="187452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7095744" y="190652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7315200" y="190652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7534656" y="190652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 txBox="1"/>
          <p:nvPr/>
        </p:nvSpPr>
        <p:spPr>
          <a:xfrm>
            <a:off x="7114032" y="2167128"/>
            <a:ext cx="427024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"px-4 py-2 rounded-lg</a:t>
            </a:r>
            <a:endParaRPr lang="en-US" sz="12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bg-cyan-500 text-white</a:t>
            </a:r>
            <a:endParaRPr lang="en-US" sz="12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hover:bg-cyan-600"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Simpan</a:t>
            </a:r>
            <a:endParaRPr lang="en-US" sz="12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858000" y="3703320"/>
            <a:ext cx="1085850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 txBox="1"/>
          <p:nvPr/>
        </p:nvSpPr>
        <p:spPr>
          <a:xfrm>
            <a:off x="6858000" y="3749040"/>
            <a:ext cx="1085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/ py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6858000" y="3986784"/>
            <a:ext cx="10858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8090154" y="3703320"/>
            <a:ext cx="1085850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 txBox="1"/>
          <p:nvPr/>
        </p:nvSpPr>
        <p:spPr>
          <a:xfrm>
            <a:off x="8090154" y="3749040"/>
            <a:ext cx="1085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 / text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8090154" y="3986784"/>
            <a:ext cx="10858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9322308" y="3703320"/>
            <a:ext cx="1085850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9322308" y="3749040"/>
            <a:ext cx="1085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9322308" y="3986784"/>
            <a:ext cx="10858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sudut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10554462" y="3703320"/>
            <a:ext cx="1085850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 txBox="1"/>
          <p:nvPr/>
        </p:nvSpPr>
        <p:spPr>
          <a:xfrm>
            <a:off x="10554462" y="3749040"/>
            <a:ext cx="1085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hover: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0554462" y="3986784"/>
            <a:ext cx="10858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858000" y="4480560"/>
            <a:ext cx="4782312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7178040" y="4681728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 txBox="1"/>
          <p:nvPr/>
        </p:nvSpPr>
        <p:spPr>
          <a:xfrm>
            <a:off x="7178040" y="4681728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8778240" y="4480560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itulah hasil dari kelas-kelas di atas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tailwi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Perbandingan Langsung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sama, lebih sedikit file &amp; perpindahan konteks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645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Tradisional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86384" y="218084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05840" y="218084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225296" y="218084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04672" y="2441448"/>
            <a:ext cx="48828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*/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#06b6d4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 16px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8862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6384" y="410108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410108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225296" y="410108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04672" y="4361688"/>
            <a:ext cx="4882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file HTML terpisah --&gt;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"btn"</a:t>
            </a: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&gt;Simpan&lt;/button&gt;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291072" y="1645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Tailwind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45352" y="19659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83096" y="218084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702552" y="218084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922008" y="218084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501384" y="2441448"/>
            <a:ext cx="48828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cukup di markup --&gt;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"bg-cyan-500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text-white px-4 py-2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rounded-lg"</a:t>
            </a: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Simpan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45352" y="38862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501384" y="388620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file CSS terpisah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gaya menempel pada elemennya.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9377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68680" y="5138928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68680" y="5138928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651760" y="4937760"/>
            <a:ext cx="8714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Tampilan identik.  </a:t>
            </a: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Bedanya: alur kerja lebih ringkas dan konsisten.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Komponen dengan Tailwind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kelas utilitas menjadi komponen nyata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943600" cy="3931920"/>
          </a:xfrm>
          <a:prstGeom prst="roundRect">
            <a:avLst>
              <a:gd name="adj" fmla="val 232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14300" dist="38100" dir="5400000" algn="bl" rotWithShape="0">
              <a:srgbClr val="0F17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86384" y="186080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186080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225296" y="186080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508760" y="17099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ProfileCard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121408"/>
            <a:ext cx="543153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"max-w-sm rounded-xl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bg-white shadow-md p-6"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&lt;h3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"text-lg font-bold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text-slate-900"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&gt;Alwin&lt;/h3&gt;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"text-slate-500"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Dosen &amp; Full-Stack Dev&lt;/p&gt;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</a:t>
            </a: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"mt-4 px-4 py-2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rounded-lg bg-cyan-500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text-white"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&gt;Ikuti&lt;/button&gt;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1645920"/>
            <a:ext cx="4782312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132320" y="178308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PRATINJAU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06640" y="2194560"/>
            <a:ext cx="3685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143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680960" y="239572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Alwin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27797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&amp; Full-Stack Dev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80960" y="32461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68096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4572000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 · rounded · shadow 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kartu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4910328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p-6 · mt-4 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5248656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text-lg · font-bold 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5586984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bg-cyan-500 · text-white 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Ekosistem: Menuju UI Modern &amp; Aksesibel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fondasi hari ini berlanjut sepanjang perkuliahan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39496" y="228600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211580" y="2542032"/>
            <a:ext cx="621792" cy="6217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lay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464" y="2709916"/>
            <a:ext cx="286024" cy="286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" y="3383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76656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&amp; gaya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28116" y="2139696"/>
            <a:ext cx="1188720" cy="310896"/>
          </a:xfrm>
          <a:prstGeom prst="roundRect">
            <a:avLst>
              <a:gd name="adj" fmla="val 4705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28116" y="2139696"/>
            <a:ext cx="11887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825496" y="228600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442716" y="254203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ck/icons/tailwi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308" y="270662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62656" y="3383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2962656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cepat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11496" y="228600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728716" y="254203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270662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48656" y="3383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248656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UI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397496" y="228600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8069580" y="2542032"/>
            <a:ext cx="621792" cy="6217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deck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7464" y="2709916"/>
            <a:ext cx="286024" cy="2860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534656" y="3383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Aria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534656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Aksesibilitas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683496" y="2286000"/>
            <a:ext cx="196596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10355580" y="2542032"/>
            <a:ext cx="621792" cy="6217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/home/claude/deck/icons/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3464" y="2709916"/>
            <a:ext cx="286024" cy="286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820656" y="3383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UI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9820656" y="3685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siap pakai</a:t>
            </a:r>
            <a:endParaRPr lang="en-US" sz="1050" dirty="0"/>
          </a:p>
        </p:txBody>
      </p:sp>
      <p:pic>
        <p:nvPicPr>
          <p:cNvPr id="33" name="Image 6" descr="/home/claude/deck/icons/arrow_s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1176" y="3049524"/>
            <a:ext cx="256032" cy="256032"/>
          </a:xfrm>
          <a:prstGeom prst="rect">
            <a:avLst/>
          </a:prstGeom>
        </p:spPr>
      </p:pic>
      <p:pic>
        <p:nvPicPr>
          <p:cNvPr id="34" name="Image 7" descr="/home/claude/deck/icons/arrow_s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7176" y="3049524"/>
            <a:ext cx="256032" cy="256032"/>
          </a:xfrm>
          <a:prstGeom prst="rect">
            <a:avLst/>
          </a:prstGeom>
        </p:spPr>
      </p:pic>
      <p:pic>
        <p:nvPicPr>
          <p:cNvPr id="35" name="Image 8" descr="/home/claude/deck/icons/arrow_s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176" y="3049524"/>
            <a:ext cx="256032" cy="256032"/>
          </a:xfrm>
          <a:prstGeom prst="rect">
            <a:avLst/>
          </a:prstGeom>
        </p:spPr>
      </p:pic>
      <p:pic>
        <p:nvPicPr>
          <p:cNvPr id="36" name="Image 9" descr="/home/claude/deck/icons/arrow_s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9176" y="3049524"/>
            <a:ext cx="256032" cy="256032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548640" y="44348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6"/>
          <p:cNvSpPr/>
          <p:nvPr/>
        </p:nvSpPr>
        <p:spPr>
          <a:xfrm>
            <a:off x="786384" y="4722876"/>
            <a:ext cx="475488" cy="4754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10" descr="/home/claude/deck/icons/aw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766" y="4851258"/>
            <a:ext cx="218724" cy="218724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1371600" y="4434840"/>
            <a:ext cx="10040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React Aria + Intent UI 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komponen yang indah sekaligus aksesibel. Fondasi HTML/CSS hari ini membuat semuanya masuk akal (Pertemuan 6–7).</a:t>
            </a:r>
            <a:endParaRPr lang="en-US" sz="1350" dirty="0"/>
          </a:p>
        </p:txBody>
      </p:sp>
      <p:sp>
        <p:nvSpPr>
          <p:cNvPr id="41" name="Text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42" name="Text 2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Terbaik &amp; Relevansi Industri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kebiasaan kerja yang benar sejak awal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1947672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42" y="2076054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35608" y="194767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Terbaik</a:t>
            </a:r>
            <a:endParaRPr lang="en-US" sz="1600" dirty="0"/>
          </a:p>
        </p:txBody>
      </p:sp>
      <p:pic>
        <p:nvPicPr>
          <p:cNvPr id="10" name="Image 2" descr="/home/claude/deck/icons/check_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78434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25296" y="265176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Utamakan HTML yang semantik</a:t>
            </a:r>
            <a:endParaRPr lang="en-US" sz="1250" dirty="0"/>
          </a:p>
        </p:txBody>
      </p:sp>
      <p:pic>
        <p:nvPicPr>
          <p:cNvPr id="12" name="Image 3" descr="/home/claude/deck/icons/check_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28726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25296" y="315468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gaya: eksternal / utility-first</a:t>
            </a:r>
            <a:endParaRPr lang="en-US" sz="1250" dirty="0"/>
          </a:p>
        </p:txBody>
      </p:sp>
      <p:pic>
        <p:nvPicPr>
          <p:cNvPr id="14" name="Image 4" descr="/home/claude/deck/icons/check_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79018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25296" y="365760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mobile-first</a:t>
            </a:r>
            <a:endParaRPr lang="en-US" sz="1250" dirty="0"/>
          </a:p>
        </p:txBody>
      </p:sp>
      <p:pic>
        <p:nvPicPr>
          <p:cNvPr id="16" name="Image 5" descr="/home/claude/deck/icons/check_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293108"/>
            <a:ext cx="237744" cy="23774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25296" y="416052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Aksesibel sejak awal (alt, label, kontras)</a:t>
            </a:r>
            <a:endParaRPr lang="en-US" sz="1250" dirty="0"/>
          </a:p>
        </p:txBody>
      </p:sp>
      <p:pic>
        <p:nvPicPr>
          <p:cNvPr id="18" name="Image 6" descr="/home/claude/deck/icons/check_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796028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225296" y="466344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skala spacing yang konsisten</a:t>
            </a:r>
            <a:endParaRPr lang="en-US" sz="1250" dirty="0"/>
          </a:p>
        </p:txBody>
      </p:sp>
      <p:pic>
        <p:nvPicPr>
          <p:cNvPr id="20" name="Image 7" descr="/home/claude/deck/icons/check_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298948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225296" y="516636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HTML &amp; rapikan struktur</a:t>
            </a:r>
            <a:endParaRPr lang="en-US" sz="1250" dirty="0"/>
          </a:p>
        </p:txBody>
      </p:sp>
      <p:sp>
        <p:nvSpPr>
          <p:cNvPr id="22" name="Shape 12"/>
          <p:cNvSpPr/>
          <p:nvPr/>
        </p:nvSpPr>
        <p:spPr>
          <a:xfrm>
            <a:off x="6245352" y="16916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3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8" descr="/home/claude/deck/icons/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054" y="2076054"/>
            <a:ext cx="218724" cy="21872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132320" y="194767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Penting untuk Karier</a:t>
            </a:r>
            <a:endParaRPr lang="en-US" sz="1600" dirty="0"/>
          </a:p>
        </p:txBody>
      </p:sp>
      <p:pic>
        <p:nvPicPr>
          <p:cNvPr id="26" name="Image 9" descr="/home/claude/deck/icons/chev_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2834640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922008" y="2651760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semua framework (React, Laravel, dll.)</a:t>
            </a:r>
            <a:endParaRPr lang="en-US" sz="1250" dirty="0"/>
          </a:p>
        </p:txBody>
      </p:sp>
      <p:pic>
        <p:nvPicPr>
          <p:cNvPr id="28" name="Image 10" descr="/home/claude/deck/icons/chev_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438144"/>
            <a:ext cx="237744" cy="2377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922008" y="3255264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Memudahkan kolaborasi &amp; pemeliharaan tim</a:t>
            </a:r>
            <a:endParaRPr lang="en-US" sz="1250" dirty="0"/>
          </a:p>
        </p:txBody>
      </p:sp>
      <p:pic>
        <p:nvPicPr>
          <p:cNvPr id="30" name="Image 11" descr="/home/claude/deck/icons/chev_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041648"/>
            <a:ext cx="237744" cy="237744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922008" y="3858768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Berdampak langsung pada performa &amp; SEO</a:t>
            </a:r>
            <a:endParaRPr lang="en-US" sz="1250" dirty="0"/>
          </a:p>
        </p:txBody>
      </p:sp>
      <p:pic>
        <p:nvPicPr>
          <p:cNvPr id="32" name="Image 12" descr="/home/claude/deck/icons/chev_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645152"/>
            <a:ext cx="237744" cy="237744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6922008" y="4462272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aksesibilitas makin diwajibkan</a:t>
            </a:r>
            <a:endParaRPr lang="en-US" sz="1250" dirty="0"/>
          </a:p>
        </p:txBody>
      </p:sp>
      <p:pic>
        <p:nvPicPr>
          <p:cNvPr id="34" name="Image 13" descr="/home/claude/deck/icons/chev_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5248656"/>
            <a:ext cx="237744" cy="237744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6922008" y="5065776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Portofolio yang rapi &amp; profesional</a:t>
            </a:r>
            <a:endParaRPr lang="en-US" sz="1250" dirty="0"/>
          </a:p>
        </p:txBody>
      </p:sp>
      <p:sp>
        <p:nvSpPr>
          <p:cNvPr id="36" name="Text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7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— Kartu Profil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HTML, CSS, dan Tailwind dalam satu latihan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14344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(HTML)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004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kartu dengan header, main, footer semantik dan &lt;img&gt; ber-alt.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7304" y="1828800"/>
            <a:ext cx="3514344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11624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61162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611624" y="27889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(CSS)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611624" y="32004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box model + Flexbox; buat responsif dengan media query.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25968" y="1828800"/>
            <a:ext cx="3514344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400288" y="21031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840028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400288" y="278892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(Tailwind)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00288" y="32004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ulang kartu yang sama menggunakan utilitas Tailwind.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penilaian: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754880"/>
            <a:ext cx="2601468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032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60704" y="4754880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Semantik benar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378708" y="4754880"/>
            <a:ext cx="2601468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876" y="4910328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3890772" y="4754880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208776" y="4754880"/>
            <a:ext cx="2601468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491032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720840" y="4754880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 &amp; konsisten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038844" y="4754880"/>
            <a:ext cx="2601468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/home/claude/deck/icons/check_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012" y="491032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50908" y="4754880"/>
            <a:ext cx="1997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Aksesibel (alt/label)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48640" y="548640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/home/claude/deck/icons/g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687568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234440" y="5486400"/>
            <a:ext cx="10177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Dikerjakan di kelas &amp; dilanjutkan sebagai tugas rumah. 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hasil ke repositori Git.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hev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&amp; Pertemuan Berikutnya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493776" cy="49377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deck/icons/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80" y="2007840"/>
            <a:ext cx="227137" cy="2271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74520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Rumah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6974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Kartu Profil dalam 2 versi: CSS murni &amp; Tailwind.</a:t>
            </a:r>
            <a:endParaRPr lang="en-US" sz="1350" dirty="0"/>
          </a:p>
          <a:p>
            <a:pPr marL="203200" indent="-2032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responsif &amp; aksesibel (alt, label, kontras).</a:t>
            </a:r>
            <a:endParaRPr lang="en-US" sz="1350" dirty="0"/>
          </a:p>
          <a:p>
            <a:pPr marL="203200" indent="-2032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kode ke repositori Git (mis. GitHub).</a:t>
            </a:r>
            <a:endParaRPr lang="en-US" sz="1350" dirty="0"/>
          </a:p>
          <a:p>
            <a:pPr marL="203200" indent="-203200" algn="l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(Opsional) Deploy agar bisa diakses daring.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45352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519672" y="1874520"/>
            <a:ext cx="493776" cy="4937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deck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992" y="2007840"/>
            <a:ext cx="227137" cy="2271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59752" y="18196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7159752" y="21122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Modern (ES6+)</a:t>
            </a:r>
            <a:endParaRPr lang="en-US" sz="1600" dirty="0"/>
          </a:p>
        </p:txBody>
      </p:sp>
      <p:pic>
        <p:nvPicPr>
          <p:cNvPr id="15" name="Image 3" descr="/home/claude/deck/icons/arrow_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299008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949440" y="283464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/ const &amp; arrow function</a:t>
            </a:r>
            <a:endParaRPr lang="en-US" sz="1300" dirty="0"/>
          </a:p>
        </p:txBody>
      </p:sp>
      <p:pic>
        <p:nvPicPr>
          <p:cNvPr id="17" name="Image 4" descr="/home/claude/deck/icons/arrow_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53872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49440" y="338328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Manipulasi DOM &amp; event</a:t>
            </a:r>
            <a:endParaRPr lang="en-US" sz="1300" dirty="0"/>
          </a:p>
        </p:txBody>
      </p:sp>
      <p:pic>
        <p:nvPicPr>
          <p:cNvPr id="19" name="Image 5" descr="/home/claude/deck/icons/arrow_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08736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949440" y="393192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methods: map, filter, reduce</a:t>
            </a:r>
            <a:endParaRPr lang="en-US" sz="1300" dirty="0"/>
          </a:p>
        </p:txBody>
      </p:sp>
      <p:pic>
        <p:nvPicPr>
          <p:cNvPr id="21" name="Image 6" descr="/home/claude/deck/icons/arrow_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636008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949440" y="448056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Async: fetch, promise, async/await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6565392" y="512064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 txBox="1"/>
          <p:nvPr/>
        </p:nvSpPr>
        <p:spPr>
          <a:xfrm>
            <a:off x="6748272" y="512064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Persiapan:  </a:t>
            </a: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editor sudah terpasang.</a:t>
            </a:r>
            <a:endParaRPr lang="en-US" sz="1250" dirty="0"/>
          </a:p>
        </p:txBody>
      </p:sp>
      <p:sp>
        <p:nvSpPr>
          <p:cNvPr id="25" name="Text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hal yang dibawa pulang hari ini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220553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039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&amp; makna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2926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semantik</a:t>
            </a:r>
            <a:endParaRPr lang="en-US" sz="1300" dirty="0"/>
          </a:p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input</a:t>
            </a:r>
            <a:endParaRPr lang="en-US" sz="1300" dirty="0"/>
          </a:p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aksesibilitas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4256" y="1783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08576" y="205740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ck/icons/sli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220553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94376" y="2039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5294376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&amp; tata letak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26864" y="2926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300" dirty="0"/>
          </a:p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</a:t>
            </a:r>
            <a:endParaRPr lang="en-US" sz="1300" dirty="0"/>
          </a:p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 mobile-first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19872" y="1783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394192" y="205740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325" y="2205533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79992" y="20391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079992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0" y="2926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cepat di markup</a:t>
            </a:r>
            <a:endParaRPr lang="en-US" sz="1300" dirty="0"/>
          </a:p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via token</a:t>
            </a:r>
            <a:endParaRPr lang="en-US" sz="1300" dirty="0"/>
          </a:p>
          <a:p>
            <a:pPr marL="203200" indent="-203200" algn="l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ke komponen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86384" y="5372100"/>
            <a:ext cx="457200" cy="4572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deck/icons/a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" y="549554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5166360"/>
            <a:ext cx="10040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yang kuat hari ini 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React, Laravel, &amp; Inertia jauh lebih mudah dipelajari nanti.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ck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23621"/>
            <a:ext cx="252374" cy="2523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16736" y="411480"/>
            <a:ext cx="10323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&amp; Sumber Belajar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1316736" y="106070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resmi &amp; sumber tepercaya untuk memperdalam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08676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205740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dec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2205533"/>
            <a:ext cx="252374" cy="25237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002536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38658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31636" y="1783080"/>
            <a:ext cx="5408676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87668" y="205740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dec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801" y="22055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91756" y="2002536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web.dev (Google)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7191756" y="238658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web.dev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108960"/>
            <a:ext cx="5408676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04672" y="338328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c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353141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3328416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Docs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1508760" y="371246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tailwindcss.com</a:t>
            </a:r>
            <a:endParaRPr lang="en-US" sz="1200" dirty="0"/>
          </a:p>
        </p:txBody>
      </p:sp>
      <p:pic>
        <p:nvPicPr>
          <p:cNvPr id="23" name="Image 4" descr="/home/claude/dec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801" y="3531413"/>
            <a:ext cx="252374" cy="25237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48640" y="4434840"/>
            <a:ext cx="5408676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804672" y="470916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/home/claude/dec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857293"/>
            <a:ext cx="252374" cy="25237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508760" y="4654296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Aria</a:t>
            </a:r>
            <a:endParaRPr lang="en-US" sz="1550" dirty="0"/>
          </a:p>
        </p:txBody>
      </p:sp>
      <p:sp>
        <p:nvSpPr>
          <p:cNvPr id="30" name="Text 22"/>
          <p:cNvSpPr txBox="1"/>
          <p:nvPr/>
        </p:nvSpPr>
        <p:spPr>
          <a:xfrm>
            <a:off x="1508760" y="503834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react-spectrum.adobe.com/react-aria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231636" y="3108960"/>
            <a:ext cx="5408676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487668" y="338328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/home/claude/dec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801" y="3531413"/>
            <a:ext cx="252374" cy="25237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191756" y="3328416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Living Standard</a:t>
            </a:r>
            <a:endParaRPr lang="en-US" sz="1550" dirty="0"/>
          </a:p>
        </p:txBody>
      </p:sp>
      <p:sp>
        <p:nvSpPr>
          <p:cNvPr id="35" name="Text 26"/>
          <p:cNvSpPr txBox="1"/>
          <p:nvPr/>
        </p:nvSpPr>
        <p:spPr>
          <a:xfrm>
            <a:off x="7191756" y="371246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html.spec.whatwg.org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Web  ·  Pertemuan 02 — Fondasi Frontend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02 · SELESAI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965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pertanyaan? Mari kita diskusikan.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56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Satya Terra Bhinneka  ·  Pemrograman Web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5669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s/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806440"/>
            <a:ext cx="292608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08760" y="5669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/icons/c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580644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94560" y="5669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deck/icons/tailwi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580644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651760" y="56692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menuju React, Laravel &amp; full-stack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3038</Words>
  <Application>Microsoft Macintosh PowerPoint</Application>
  <PresentationFormat>Widescreen</PresentationFormat>
  <Paragraphs>571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Software Solution</cp:lastModifiedBy>
  <cp:revision>5</cp:revision>
  <dcterms:created xsi:type="dcterms:W3CDTF">2026-09-09T00:39:08Z</dcterms:created>
  <dcterms:modified xsi:type="dcterms:W3CDTF">2026-09-09T01:23:11Z</dcterms:modified>
</cp:coreProperties>
</file>